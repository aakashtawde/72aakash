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914400"/>
            <a:ext cx="548640" cy="548640"/>
          </a:xfrm>
          <a:prstGeom prst="ellipse">
            <a:avLst/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" name="Oval 2"/>
          <p:cNvSpPr/>
          <p:nvPr/>
        </p:nvSpPr>
        <p:spPr>
          <a:xfrm>
            <a:off x="10972800" y="1371600"/>
            <a:ext cx="457200" cy="457200"/>
          </a:xfrm>
          <a:prstGeom prst="ellipse">
            <a:avLst/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4" name="Oval 3"/>
          <p:cNvSpPr/>
          <p:nvPr/>
        </p:nvSpPr>
        <p:spPr>
          <a:xfrm>
            <a:off x="1371600" y="5669280"/>
            <a:ext cx="502920" cy="502920"/>
          </a:xfrm>
          <a:prstGeom prst="ellipse">
            <a:avLst/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5" name="Oval 4"/>
          <p:cNvSpPr/>
          <p:nvPr/>
        </p:nvSpPr>
        <p:spPr>
          <a:xfrm>
            <a:off x="10515600" y="5029200"/>
            <a:ext cx="548640" cy="548640"/>
          </a:xfrm>
          <a:prstGeom prst="ellipse">
            <a:avLst/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6" name="Oval 5"/>
          <p:cNvSpPr/>
          <p:nvPr/>
        </p:nvSpPr>
        <p:spPr>
          <a:xfrm>
            <a:off x="5852160" y="548640"/>
            <a:ext cx="411480" cy="411480"/>
          </a:xfrm>
          <a:prstGeom prst="ellipse">
            <a:avLst/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632704" y="1280160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32704" y="12801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109167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1B2D4F"/>
                </a:solidFill>
                <a:latin typeface="Calibri"/>
              </a:rPr>
              <a:t>WhatsApp Chat Solution</a:t>
            </a:r>
          </a:p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1B2D4F"/>
                </a:solidFill>
                <a:latin typeface="Calibri"/>
              </a:rPr>
              <a:t>for </a:t>
            </a:r>
            <a:r>
              <a:rPr sz="5400" b="1" i="0">
                <a:solidFill>
                  <a:srgbClr val="0A7E8C"/>
                </a:solidFill>
                <a:latin typeface="Calibri"/>
              </a:rPr>
              <a:t>Cozmaa.com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6B7280"/>
                </a:solidFill>
                <a:latin typeface="Calibri"/>
              </a:rPr>
              <a:t>How customers will chat with us — directly from our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D4A843"/>
                </a:solidFill>
                <a:latin typeface="Calibri"/>
              </a:rPr>
              <a:t>A SIMPLE GUIDE  ·  NO TECHNICAL JARGON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Our Current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02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7FAFB"/>
          </a:solidFill>
          <a:ln w="285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2D3436"/>
                </a:solidFill>
                <a:latin typeface="Calibri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2D4F"/>
                </a:solidFill>
                <a:latin typeface="Calibri"/>
              </a:rPr>
              <a:t>Mobile Visitor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546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7280"/>
                </a:solidFill>
                <a:latin typeface="Calibri"/>
              </a:rPr>
              <a:t>1. </a:t>
            </a:r>
            <a:r>
              <a:rPr sz="1600" b="0" i="0">
                <a:solidFill>
                  <a:srgbClr val="2D3436"/>
                </a:solidFill>
                <a:latin typeface="Calibri"/>
              </a:rPr>
              <a:t>Clicks chat button on cozmaa.com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5760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7280"/>
                </a:solidFill>
                <a:latin typeface="Calibri"/>
              </a:rPr>
              <a:t>2. </a:t>
            </a:r>
            <a:r>
              <a:rPr sz="1600" b="0" i="0">
                <a:solidFill>
                  <a:srgbClr val="2D3436"/>
                </a:solidFill>
                <a:latin typeface="Calibri"/>
              </a:rPr>
              <a:t>WhatsApp app opens instantly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1605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7280"/>
                </a:solidFill>
                <a:latin typeface="Calibri"/>
              </a:rPr>
              <a:t>3. </a:t>
            </a:r>
            <a:r>
              <a:rPr sz="1600" b="0" i="0">
                <a:solidFill>
                  <a:srgbClr val="2D3436"/>
                </a:solidFill>
                <a:latin typeface="Calibri"/>
              </a:rPr>
              <a:t>Starts chatting — done.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✅  Easy. We get the lead.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5212080" cy="4023360"/>
          </a:xfrm>
          <a:prstGeom prst="roundRect">
            <a:avLst>
              <a:gd name="adj" fmla="val 5000"/>
            </a:avLst>
          </a:prstGeom>
          <a:solidFill>
            <a:srgbClr val="F7FAFB"/>
          </a:solidFill>
          <a:ln w="285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29400" y="19659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2D3436"/>
                </a:solidFill>
                <a:latin typeface="Calibri"/>
              </a:rP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606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2D4F"/>
                </a:solidFill>
                <a:latin typeface="Calibri"/>
              </a:rPr>
              <a:t>Desktop Visitor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546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7280"/>
                </a:solidFill>
                <a:latin typeface="Calibri"/>
              </a:rPr>
              <a:t>1. </a:t>
            </a:r>
            <a:r>
              <a:rPr sz="1600" b="0" i="0">
                <a:solidFill>
                  <a:srgbClr val="2D3436"/>
                </a:solidFill>
                <a:latin typeface="Calibri"/>
              </a:rPr>
              <a:t>Clicks chat button on cozmaa.com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7280"/>
                </a:solidFill>
                <a:latin typeface="Calibri"/>
              </a:rPr>
              <a:t>2. </a:t>
            </a:r>
            <a:r>
              <a:rPr sz="1600" b="0" i="0">
                <a:solidFill>
                  <a:srgbClr val="2D3436"/>
                </a:solidFill>
                <a:latin typeface="Calibri"/>
              </a:rPr>
              <a:t>Sees WhatsApp Web — needs phone &amp; QR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1605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6B7280"/>
                </a:solidFill>
                <a:latin typeface="Calibri"/>
              </a:rPr>
              <a:t>3. </a:t>
            </a:r>
            <a:r>
              <a:rPr sz="1600" b="0" i="0">
                <a:solidFill>
                  <a:srgbClr val="2D3436"/>
                </a:solidFill>
                <a:latin typeface="Calibri"/>
              </a:rPr>
              <a:t>Most people give up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349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F4444"/>
                </a:solidFill>
                <a:latin typeface="Calibri"/>
              </a:rPr>
              <a:t>❌  We lose them before they reach 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6B7280"/>
                </a:solidFill>
                <a:latin typeface="Calibri"/>
              </a:rPr>
              <a:t>A big chunk of our website visitors are on desktops. They drop off before reaching 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THE CUSTOMER'S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What Customers Actually Want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03 / 18  ·  Cozmaa WhatsApp Chat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1148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0" b="0" i="0">
                <a:solidFill>
                  <a:srgbClr val="2D3436"/>
                </a:solidFill>
                <a:latin typeface="Calibri"/>
              </a:rPr>
              <a:t>👩‍💻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377440"/>
            <a:ext cx="65836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94960" y="256032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D3436"/>
                </a:solidFill>
                <a:latin typeface="Calibri"/>
              </a:rPr>
              <a:t>"I just want to ask a quick question. Without downloading anything, scanning any QR codes, or filling forms."</a:t>
            </a:r>
          </a:p>
        </p:txBody>
      </p:sp>
      <p:sp>
        <p:nvSpPr>
          <p:cNvPr id="9" name="Right Triangle 8"/>
          <p:cNvSpPr/>
          <p:nvPr/>
        </p:nvSpPr>
        <p:spPr>
          <a:xfrm rot="16200000">
            <a:off x="4846320" y="3017520"/>
            <a:ext cx="274320" cy="365760"/>
          </a:xfrm>
          <a:prstGeom prst="rtTriangle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2D4F"/>
                </a:solidFill>
                <a:latin typeface="Calibri"/>
              </a:rPr>
              <a:t>Customers want to chat instantly. Right there. On the website. No extra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OUR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What We Want (the Business Side)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04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65836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D3436"/>
                </a:solidFill>
                <a:latin typeface="Calibri"/>
              </a:rPr>
              <a:t>"I want to reply from my phone, like normal WhatsApp. Not learn a complicated software with menus and dashboards."</a:t>
            </a:r>
          </a:p>
        </p:txBody>
      </p:sp>
      <p:sp>
        <p:nvSpPr>
          <p:cNvPr id="8" name="Right Triangle 7"/>
          <p:cNvSpPr/>
          <p:nvPr/>
        </p:nvSpPr>
        <p:spPr>
          <a:xfrm rot="5400000">
            <a:off x="7132320" y="3017520"/>
            <a:ext cx="274320" cy="365760"/>
          </a:xfrm>
          <a:prstGeom prst="rtTriangl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011680"/>
            <a:ext cx="41148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0" b="0" i="0">
                <a:solidFill>
                  <a:srgbClr val="2D3436"/>
                </a:solidFill>
                <a:latin typeface="Calibri"/>
              </a:rPr>
              <a:t>👨‍⚕️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2D4F"/>
                </a:solidFill>
                <a:latin typeface="Calibri"/>
              </a:rPr>
              <a:t>We want simplicity. All customer chats in one place — managed easily, on our phone.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How It Works —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05 / 18  ·  Cozmaa WhatsApp Chat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7280"/>
                </a:solidFill>
                <a:latin typeface="Calibri"/>
              </a:rPr>
              <a:t>Customer types on our website. We get it on our phone. We reply. Done.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5" y="2743200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9515" y="288036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2D3436"/>
                </a:solidFill>
                <a:latin typeface="Calibri"/>
              </a:rP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5" y="37033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Customer's Laptop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5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Visits cozmaa.com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74035" y="3703320"/>
            <a:ext cx="365760" cy="27432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39796" y="2743200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39796" y="288036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2D3436"/>
                </a:solidFill>
                <a:latin typeface="Calibri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1236" y="37033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Chat Widget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1236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On our website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4316" y="3703320"/>
            <a:ext cx="365760" cy="27432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80076" y="2743200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80076" y="288036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2D3436"/>
                </a:solidFill>
                <a:latin typeface="Calibri"/>
              </a:rPr>
              <a:t>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1516" y="37033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WhatsApp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1516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Meta's network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54596" y="3703320"/>
            <a:ext cx="365760" cy="27432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20356" y="2743200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20356" y="288036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2D3436"/>
                </a:solidFill>
                <a:latin typeface="Calibri"/>
              </a:rP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1796" y="37033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Our Business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1796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Notifies us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94876" y="3703320"/>
            <a:ext cx="365760" cy="27432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60636" y="2743200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660636" y="2880360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2D3436"/>
                </a:solidFill>
                <a:latin typeface="Calibri"/>
              </a:rPr>
              <a:t>👨‍⚕️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2076" y="37033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We Reply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2076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From anywhere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D4F"/>
                </a:solidFill>
                <a:latin typeface="Calibri"/>
              </a:rPr>
              <a:t>The customer never leaves our website. We never leave our phone.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MEET THE TECH (BRIEFLY)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Meet WhatsApp Business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06 / 18  ·  Cozmaa WhatsApp Chat Solution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3200400" cy="320040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0" b="0" i="0">
                <a:solidFill>
                  <a:srgbClr val="2D3436"/>
                </a:solidFill>
                <a:latin typeface="Calibri"/>
              </a:rPr>
              <a:t>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2D3436"/>
                </a:solidFill>
                <a:latin typeface="Calibri"/>
              </a:rPr>
              <a:t>It's the official, professional version of WhatsApp — made by </a:t>
            </a:r>
            <a:r>
              <a:rPr sz="1700" b="1" i="0">
                <a:solidFill>
                  <a:srgbClr val="2D3436"/>
                </a:solidFill>
                <a:latin typeface="Calibri"/>
              </a:rPr>
              <a:t>Meta (the same company that owns WhatsApp)</a:t>
            </a:r>
            <a:r>
              <a:rPr sz="1700" b="0" i="0">
                <a:solidFill>
                  <a:srgbClr val="2D3436"/>
                </a:solidFill>
                <a:latin typeface="Calibri"/>
              </a:rPr>
              <a:t> — for businesses like 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91840"/>
            <a:ext cx="7315200" cy="64008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333756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2D3436"/>
                </a:solidFill>
                <a:latin typeface="Calibri"/>
              </a:rPr>
              <a:t>✅   </a:t>
            </a:r>
            <a:r>
              <a:rPr sz="1800" b="1" i="0">
                <a:solidFill>
                  <a:srgbClr val="1B2D4F"/>
                </a:solidFill>
                <a:latin typeface="Calibri"/>
              </a:rPr>
              <a:t>100% official and legal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069080"/>
            <a:ext cx="7315200" cy="64008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2D3436"/>
                </a:solidFill>
                <a:latin typeface="Calibri"/>
              </a:rPr>
              <a:t>✅   </a:t>
            </a:r>
            <a:r>
              <a:rPr sz="1800" b="1" i="0">
                <a:solidFill>
                  <a:srgbClr val="1B2D4F"/>
                </a:solidFill>
                <a:latin typeface="Calibri"/>
              </a:rPr>
              <a:t>Same WhatsApp experience for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846320"/>
            <a:ext cx="7315200" cy="640080"/>
          </a:xfrm>
          <a:prstGeom prst="roundRect">
            <a:avLst>
              <a:gd name="adj" fmla="val 10000"/>
            </a:avLst>
          </a:prstGeom>
          <a:solidFill>
            <a:srgbClr val="F7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0" y="489204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2D3436"/>
                </a:solidFill>
                <a:latin typeface="Calibri"/>
              </a:rPr>
              <a:t>✅   </a:t>
            </a:r>
            <a:r>
              <a:rPr sz="1800" b="1" i="0">
                <a:solidFill>
                  <a:srgbClr val="1B2D4F"/>
                </a:solidFill>
                <a:latin typeface="Calibri"/>
              </a:rPr>
              <a:t>Built for businesses to handle many chats at once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⚠️ IMPORTANT — READ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One thing to understand before we go further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07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91672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2D4F"/>
                </a:solidFill>
                <a:latin typeface="Calibri"/>
              </a:rPr>
              <a:t>We will </a:t>
            </a:r>
            <a:r>
              <a:rPr sz="2600" b="1" i="0">
                <a:solidFill>
                  <a:srgbClr val="EF4444"/>
                </a:solidFill>
                <a:latin typeface="Calibri"/>
              </a:rPr>
              <a:t>NOT</a:t>
            </a:r>
            <a:r>
              <a:rPr sz="2200" b="1" i="0">
                <a:solidFill>
                  <a:srgbClr val="1B2D4F"/>
                </a:solidFill>
                <a:latin typeface="Calibri"/>
              </a:rPr>
              <a:t> use the green WhatsApp app you have on your phone right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108960"/>
            <a:ext cx="2377440" cy="2651760"/>
          </a:xfrm>
          <a:prstGeom prst="roundRect">
            <a:avLst>
              <a:gd name="adj" fmla="val 13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377440" y="32004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07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468880" y="32461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Family 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3657600"/>
            <a:ext cx="2194560" cy="2011680"/>
          </a:xfrm>
          <a:prstGeom prst="roundRect">
            <a:avLst>
              <a:gd name="adj" fmla="val 0"/>
            </a:avLst>
          </a:prstGeom>
          <a:solidFill>
            <a:srgbClr val="EC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468880" y="3749039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532888" y="379475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D3436"/>
                </a:solidFill>
                <a:latin typeface="Calibri"/>
              </a:rPr>
              <a:t>Beta, dinner kab?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297679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DCF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990088" y="434339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D3436"/>
                </a:solidFill>
                <a:latin typeface="Calibri"/>
              </a:rPr>
              <a:t>8 baje pahunchunga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852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2D4F"/>
                </a:solidFill>
                <a:latin typeface="Calibri"/>
              </a:rPr>
              <a:t>1️⃣  Personal 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023360"/>
            <a:ext cx="21031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EF4444"/>
                </a:solidFill>
                <a:latin typeface="Calibri"/>
              </a:rPr>
              <a:t>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108960"/>
            <a:ext cx="2377440" cy="2651760"/>
          </a:xfrm>
          <a:prstGeom prst="roundRect">
            <a:avLst>
              <a:gd name="adj" fmla="val 13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589519" y="32004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59" y="32461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Patient — Priya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19" y="3657600"/>
            <a:ext cx="2194560" cy="2011680"/>
          </a:xfrm>
          <a:prstGeom prst="roundRect">
            <a:avLst>
              <a:gd name="adj" fmla="val 0"/>
            </a:avLst>
          </a:prstGeom>
          <a:solidFill>
            <a:srgbClr val="EC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680959" y="3749039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4967" y="379475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D3436"/>
                </a:solidFill>
                <a:latin typeface="Calibri"/>
              </a:rPr>
              <a:t>Hair transplant info?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4297679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DCF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02167" y="434339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D3436"/>
                </a:solidFill>
                <a:latin typeface="Calibri"/>
              </a:rPr>
              <a:t>Sure, sharing now!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9" y="5852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2D4F"/>
                </a:solidFill>
                <a:latin typeface="Calibri"/>
              </a:rPr>
              <a:t>2️⃣  Business API (Cozmaa)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These two CANNOT mix. It's a Meta rule — not something we can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SO WHERE WILL I REPLY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A separate app — but it FEELS like WhatsApp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08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743200" cy="4297680"/>
          </a:xfrm>
          <a:prstGeom prst="roundRect">
            <a:avLst>
              <a:gd name="adj" fmla="val 13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2560320" cy="502920"/>
          </a:xfrm>
          <a:prstGeom prst="roundRect">
            <a:avLst>
              <a:gd name="adj" fmla="val 12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Cozmaa Inbox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23160"/>
            <a:ext cx="2560320" cy="3611880"/>
          </a:xfrm>
          <a:prstGeom prst="roundRect">
            <a:avLst>
              <a:gd name="adj" fmla="val 0"/>
            </a:avLst>
          </a:prstGeom>
          <a:solidFill>
            <a:srgbClr val="EC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182880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2606039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D3436"/>
                </a:solidFill>
                <a:latin typeface="Calibri"/>
              </a:rPr>
              <a:t>Hi, looking for hair transplant info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337560"/>
            <a:ext cx="1828800" cy="640080"/>
          </a:xfrm>
          <a:prstGeom prst="roundRect">
            <a:avLst>
              <a:gd name="adj" fmla="val 20000"/>
            </a:avLst>
          </a:prstGeom>
          <a:solidFill>
            <a:srgbClr val="DCF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63040" y="3383279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D3436"/>
                </a:solidFill>
                <a:latin typeface="Calibri"/>
              </a:rPr>
              <a:t>Hello! Sharing our packages now 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182880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D3436"/>
                </a:solidFill>
                <a:latin typeface="Calibri"/>
              </a:rPr>
              <a:t>Cost kitna hota hai approx?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892040"/>
            <a:ext cx="1828800" cy="640080"/>
          </a:xfrm>
          <a:prstGeom prst="roundRect">
            <a:avLst>
              <a:gd name="adj" fmla="val 20000"/>
            </a:avLst>
          </a:prstGeom>
          <a:solidFill>
            <a:srgbClr val="DCF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463040" y="4937759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2D3436"/>
                </a:solidFill>
                <a:latin typeface="Calibri"/>
              </a:rPr>
              <a:t>Starting ₹65,000 — depends on grafts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10312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2D3436"/>
                </a:solidFill>
                <a:latin typeface="Calibri"/>
              </a:rPr>
              <a:t>📱   </a:t>
            </a:r>
            <a:r>
              <a:rPr sz="1800" b="0" i="0">
                <a:solidFill>
                  <a:srgbClr val="2D3436"/>
                </a:solidFill>
                <a:latin typeface="Calibri"/>
              </a:rPr>
              <a:t>Looks and works exactly like WhatsApp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97479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2D3436"/>
                </a:solidFill>
                <a:latin typeface="Calibri"/>
              </a:rPr>
              <a:t>💬   </a:t>
            </a:r>
            <a:r>
              <a:rPr sz="1800" b="0" i="0">
                <a:solidFill>
                  <a:srgbClr val="2D3436"/>
                </a:solidFill>
                <a:latin typeface="Calibri"/>
              </a:rPr>
              <a:t>Same chat bubbles, same green vibe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291839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2D3436"/>
                </a:solidFill>
                <a:latin typeface="Calibri"/>
              </a:rPr>
              <a:t>🔔   </a:t>
            </a:r>
            <a:r>
              <a:rPr sz="1800" b="0" i="0">
                <a:solidFill>
                  <a:srgbClr val="2D3436"/>
                </a:solidFill>
                <a:latin typeface="Calibri"/>
              </a:rPr>
              <a:t>Notifications come the same 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8862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2D3436"/>
                </a:solidFill>
                <a:latin typeface="Calibri"/>
              </a:rPr>
              <a:t>🆕   </a:t>
            </a:r>
            <a:r>
              <a:rPr sz="1800" b="0" i="0">
                <a:solidFill>
                  <a:srgbClr val="2D3436"/>
                </a:solidFill>
                <a:latin typeface="Calibri"/>
              </a:rPr>
              <a:t>Only difference — a different app icon on your phone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846320"/>
            <a:ext cx="7589520" cy="1280160"/>
          </a:xfrm>
          <a:prstGeom prst="roundRect">
            <a:avLst>
              <a:gd name="adj" fmla="val 8000"/>
            </a:avLst>
          </a:prstGeom>
          <a:solidFill>
            <a:srgbClr val="E6F4F6"/>
          </a:solidFill>
          <a:ln w="1905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297680" y="4937760"/>
            <a:ext cx="7223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Think of it like this: </a:t>
            </a:r>
            <a:r>
              <a:rPr sz="1400" b="0" i="0">
                <a:solidFill>
                  <a:srgbClr val="1B2D4F"/>
                </a:solidFill>
                <a:latin typeface="Calibri"/>
              </a:rPr>
              <a:t>Gmail and Outlook are both for emails.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B2D4F"/>
                </a:solidFill>
                <a:latin typeface="Calibri"/>
              </a:rPr>
              <a:t>Different apps, same job. You'll get used to it in a 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THE PHONE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What about my existing Cozmaa WhatsApp number?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09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22959" y="21945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OPTION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59" y="21945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023359" y="21945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⭐ RECOMMENDED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432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D4F"/>
                </a:solidFill>
                <a:latin typeface="Calibri"/>
              </a:rPr>
              <a:t>Use a NEW number for Cozmaa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204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D3436"/>
                </a:solidFill>
                <a:latin typeface="Calibri"/>
              </a:rPr>
              <a:t>✅  </a:t>
            </a:r>
            <a:r>
              <a:rPr sz="1400" b="0" i="0">
                <a:solidFill>
                  <a:srgbClr val="2D3436"/>
                </a:solidFill>
                <a:latin typeface="Calibri"/>
              </a:rPr>
              <a:t>Your personal WhatsApp stays untouched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06908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D3436"/>
                </a:solidFill>
                <a:latin typeface="Calibri"/>
              </a:rPr>
              <a:t>✅  </a:t>
            </a:r>
            <a:r>
              <a:rPr sz="1400" b="0" i="0">
                <a:solidFill>
                  <a:srgbClr val="2D3436"/>
                </a:solidFill>
                <a:latin typeface="Calibri"/>
              </a:rPr>
              <a:t>Clean separation — work and personal don't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177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D3436"/>
                </a:solidFill>
                <a:latin typeface="Calibri"/>
              </a:rPr>
              <a:t>✅  </a:t>
            </a:r>
            <a:r>
              <a:rPr sz="1400" b="0" i="0">
                <a:solidFill>
                  <a:srgbClr val="2D3436"/>
                </a:solidFill>
                <a:latin typeface="Calibri"/>
              </a:rPr>
              <a:t>No risk of losing existing chats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201168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28232" y="21945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28232" y="21945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OPTION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7432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D4F"/>
                </a:solidFill>
                <a:latin typeface="Calibri"/>
              </a:rPr>
              <a:t>Migrate your current Cozmaa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5204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D3436"/>
                </a:solidFill>
                <a:latin typeface="Calibri"/>
              </a:rPr>
              <a:t>⚠️  </a:t>
            </a:r>
            <a:r>
              <a:rPr sz="1400" b="0" i="0">
                <a:solidFill>
                  <a:srgbClr val="EF4444"/>
                </a:solidFill>
                <a:latin typeface="Calibri"/>
              </a:rPr>
              <a:t>Number can NEVER be used on regular WhatsApp again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06908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D3436"/>
                </a:solidFill>
                <a:latin typeface="Calibri"/>
              </a:rPr>
              <a:t>⚠️  </a:t>
            </a:r>
            <a:r>
              <a:rPr sz="1400" b="0" i="0">
                <a:solidFill>
                  <a:srgbClr val="EF4444"/>
                </a:solidFill>
                <a:latin typeface="Calibri"/>
              </a:rPr>
              <a:t>All old chats on that number will be lost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6177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D3436"/>
                </a:solidFill>
                <a:latin typeface="Calibri"/>
              </a:rPr>
              <a:t>✅  </a:t>
            </a:r>
            <a:r>
              <a:rPr sz="1400" b="0" i="0">
                <a:solidFill>
                  <a:srgbClr val="2D3436"/>
                </a:solidFill>
                <a:latin typeface="Calibri"/>
              </a:rPr>
              <a:t>Customers who already have it reach the right 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B2D4F"/>
                </a:solidFill>
                <a:latin typeface="Calibri"/>
              </a:rPr>
              <a:t>Our suggestion: </a:t>
            </a:r>
            <a:r>
              <a:rPr sz="1800" b="1" i="0">
                <a:solidFill>
                  <a:srgbClr val="0A7E8C"/>
                </a:solidFill>
                <a:latin typeface="Calibri"/>
              </a:rPr>
              <a:t>Option A</a:t>
            </a:r>
            <a:r>
              <a:rPr sz="1800" b="1" i="0">
                <a:solidFill>
                  <a:srgbClr val="1B2D4F"/>
                </a:solidFill>
                <a:latin typeface="Calibri"/>
              </a:rPr>
              <a:t> — get a new number specifically for the website.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WHO PROVIDES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We don't talk to Meta directly — we go through a BSP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10 / 18  ·  Cozmaa WhatsApp Chat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D3436"/>
                </a:solidFill>
                <a:latin typeface="Calibri"/>
              </a:rPr>
              <a:t>A </a:t>
            </a:r>
            <a:r>
              <a:rPr sz="1600" b="1" i="0">
                <a:solidFill>
                  <a:srgbClr val="2D3436"/>
                </a:solidFill>
                <a:latin typeface="Calibri"/>
              </a:rPr>
              <a:t>BSP (Business Solution Provider) </a:t>
            </a:r>
            <a:r>
              <a:rPr sz="1600" b="0" i="0">
                <a:solidFill>
                  <a:srgbClr val="2D3436"/>
                </a:solidFill>
                <a:latin typeface="Calibri"/>
              </a:rPr>
              <a:t>is an authorised middleman approved by Meta. They give us: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" y="237744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3815" y="26060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2D3436"/>
                </a:solidFill>
                <a:latin typeface="Calibri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5" y="352044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The chat widget for our website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237744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11296" y="26060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2D3436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352044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A dashboard to see all customer chats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37744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26060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2D3436"/>
                </a:solidFill>
                <a:latin typeface="Calibri"/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352044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The mobile app to reply on the 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2377440"/>
            <a:ext cx="2468880" cy="2103120"/>
          </a:xfrm>
          <a:prstGeom prst="roundRect">
            <a:avLst>
              <a:gd name="adj" fmla="val 8000"/>
            </a:avLst>
          </a:prstGeom>
          <a:solidFill>
            <a:srgbClr val="F7FAFB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06256" y="26060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2D3436"/>
                </a:solidFill>
                <a:latin typeface="Calibri"/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352044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Technical setup and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7000"/>
            </a:avLst>
          </a:prstGeom>
          <a:solidFill>
            <a:srgbClr val="E6F4F6"/>
          </a:solidFill>
          <a:ln w="1905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528523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B2D4F"/>
                </a:solidFill>
                <a:latin typeface="Calibri"/>
              </a:rPr>
              <a:t>Real-life analogy: </a:t>
            </a:r>
            <a:r>
              <a:rPr sz="1600" b="0" i="0">
                <a:solidFill>
                  <a:srgbClr val="1B2D4F"/>
                </a:solidFill>
                <a:latin typeface="Calibri"/>
              </a:rPr>
              <a:t>It's like an authorised car dealer. We don't buy directly from the manufacturer (Meta) — we go through a trusted dealer who handles everything.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TOP 3 BSP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Which provider should we pick?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11 / 18  ·  Cozmaa WhatsApp Chat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7280"/>
                </a:solidFill>
                <a:latin typeface="Calibri"/>
              </a:rPr>
              <a:t>We've shortlisted three. Here's how they compare for a clinic our size.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6" y="2286000"/>
            <a:ext cx="2926080" cy="502920"/>
          </a:xfrm>
          <a:prstGeom prst="rect">
            <a:avLst/>
          </a:prstGeom>
          <a:solidFill>
            <a:srgbClr val="1B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6636" y="228600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2716" y="2286000"/>
            <a:ext cx="2743200" cy="502920"/>
          </a:xfrm>
          <a:prstGeom prst="rect">
            <a:avLst/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42716" y="22860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AiSensy 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5916" y="2286000"/>
            <a:ext cx="2743200" cy="502920"/>
          </a:xfrm>
          <a:prstGeom prst="rect">
            <a:avLst/>
          </a:prstGeom>
          <a:solidFill>
            <a:srgbClr val="1B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85916" y="22860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Interakt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29116" y="2286000"/>
            <a:ext cx="2743200" cy="502920"/>
          </a:xfrm>
          <a:prstGeom prst="rect">
            <a:avLst/>
          </a:prstGeom>
          <a:solidFill>
            <a:srgbClr val="1B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29116" y="22860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Wati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" y="2788920"/>
            <a:ext cx="2926080" cy="502920"/>
          </a:xfrm>
          <a:prstGeom prst="rect">
            <a:avLst/>
          </a:prstGeom>
          <a:solidFill>
            <a:srgbClr val="F7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3796" y="27889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D4F"/>
                </a:solidFill>
                <a:latin typeface="Calibri"/>
              </a:rPr>
              <a:t>Starting price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2716" y="2788920"/>
            <a:ext cx="2743200" cy="502920"/>
          </a:xfrm>
          <a:prstGeom prst="rect">
            <a:avLst/>
          </a:prstGeom>
          <a:solidFill>
            <a:srgbClr val="E6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579876" y="27889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D3436"/>
                </a:solidFill>
                <a:latin typeface="Calibri"/>
              </a:rPr>
              <a:t>₹1,500/mo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5916" y="2788920"/>
            <a:ext cx="2743200" cy="502920"/>
          </a:xfrm>
          <a:prstGeom prst="rect">
            <a:avLst/>
          </a:prstGeom>
          <a:solidFill>
            <a:srgbClr val="F7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23076" y="27889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D3436"/>
                </a:solidFill>
                <a:latin typeface="Calibri"/>
              </a:rPr>
              <a:t>₹999/mo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29116" y="2788920"/>
            <a:ext cx="2743200" cy="502920"/>
          </a:xfrm>
          <a:prstGeom prst="rect">
            <a:avLst/>
          </a:prstGeom>
          <a:solidFill>
            <a:srgbClr val="F7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66276" y="278892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D3436"/>
                </a:solidFill>
                <a:latin typeface="Calibri"/>
              </a:rPr>
              <a:t>₹2,499/mo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" y="3291839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3796" y="3291839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D4F"/>
                </a:solidFill>
                <a:latin typeface="Calibri"/>
              </a:rPr>
              <a:t>Free trial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42716" y="3291839"/>
            <a:ext cx="2743200" cy="502920"/>
          </a:xfrm>
          <a:prstGeom prst="rect">
            <a:avLst/>
          </a:prstGeom>
          <a:solidFill>
            <a:srgbClr val="E6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579876" y="3291839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D3436"/>
                </a:solidFill>
                <a:latin typeface="Calibri"/>
              </a:rPr>
              <a:t>14 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5916" y="3291839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23076" y="3291839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D3436"/>
                </a:solidFill>
                <a:latin typeface="Calibr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29116" y="3291839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66276" y="3291839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D3436"/>
                </a:solidFill>
                <a:latin typeface="Calibri"/>
              </a:rPr>
              <a:t>7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" y="3794760"/>
            <a:ext cx="2926080" cy="502920"/>
          </a:xfrm>
          <a:prstGeom prst="rect">
            <a:avLst/>
          </a:prstGeom>
          <a:solidFill>
            <a:srgbClr val="F7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3796" y="37947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D4F"/>
                </a:solidFill>
                <a:latin typeface="Calibri"/>
              </a:rPr>
              <a:t>Mobile 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42716" y="3794760"/>
            <a:ext cx="2743200" cy="502920"/>
          </a:xfrm>
          <a:prstGeom prst="rect">
            <a:avLst/>
          </a:prstGeom>
          <a:solidFill>
            <a:srgbClr val="E6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79876" y="37947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D3436"/>
                </a:solidFill>
                <a:latin typeface="Calibri"/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85916" y="3794760"/>
            <a:ext cx="2743200" cy="502920"/>
          </a:xfrm>
          <a:prstGeom prst="rect">
            <a:avLst/>
          </a:prstGeom>
          <a:solidFill>
            <a:srgbClr val="F7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23076" y="37947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D3436"/>
                </a:solidFill>
                <a:latin typeface="Calibri"/>
              </a:rPr>
              <a:t>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29116" y="3794760"/>
            <a:ext cx="2743200" cy="502920"/>
          </a:xfrm>
          <a:prstGeom prst="rect">
            <a:avLst/>
          </a:prstGeom>
          <a:solidFill>
            <a:srgbClr val="F7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66276" y="37947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D3436"/>
                </a:solidFill>
                <a:latin typeface="Calibri"/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6636" y="429768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53796" y="42976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D4F"/>
                </a:solidFill>
                <a:latin typeface="Calibri"/>
              </a:rPr>
              <a:t>Indian company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42716" y="4297680"/>
            <a:ext cx="2743200" cy="502920"/>
          </a:xfrm>
          <a:prstGeom prst="rect">
            <a:avLst/>
          </a:prstGeom>
          <a:solidFill>
            <a:srgbClr val="E6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579876" y="42976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D3436"/>
                </a:solidFill>
                <a:latin typeface="Calibri"/>
              </a:rPr>
              <a:t>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5916" y="42976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323076" y="42976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D3436"/>
                </a:solidFill>
                <a:latin typeface="Calibri"/>
              </a:rPr>
              <a:t>✅ (Jio)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29116" y="42976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66276" y="42976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D3436"/>
                </a:solidFill>
                <a:latin typeface="Calibri"/>
              </a:rPr>
              <a:t>❌ Global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6636" y="4800600"/>
            <a:ext cx="2926080" cy="502920"/>
          </a:xfrm>
          <a:prstGeom prst="rect">
            <a:avLst/>
          </a:prstGeom>
          <a:solidFill>
            <a:srgbClr val="F7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3796" y="48006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D4F"/>
                </a:solidFill>
                <a:latin typeface="Calibri"/>
              </a:rPr>
              <a:t>Best for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42716" y="4800600"/>
            <a:ext cx="2743200" cy="502920"/>
          </a:xfrm>
          <a:prstGeom prst="rect">
            <a:avLst/>
          </a:prstGeom>
          <a:solidFill>
            <a:srgbClr val="E6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579876" y="48006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D3436"/>
                </a:solidFill>
                <a:latin typeface="Calibri"/>
              </a:rPr>
              <a:t>Small clinics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85916" y="4800600"/>
            <a:ext cx="2743200" cy="502920"/>
          </a:xfrm>
          <a:prstGeom prst="rect">
            <a:avLst/>
          </a:prstGeom>
          <a:solidFill>
            <a:srgbClr val="F7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323076" y="48006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D3436"/>
                </a:solidFill>
                <a:latin typeface="Calibri"/>
              </a:rPr>
              <a:t>Tightest budget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29116" y="4800600"/>
            <a:ext cx="2743200" cy="502920"/>
          </a:xfrm>
          <a:prstGeom prst="rect">
            <a:avLst/>
          </a:prstGeom>
          <a:solidFill>
            <a:srgbClr val="F7FA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066276" y="48006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2D3436"/>
                </a:solidFill>
                <a:latin typeface="Calibri"/>
              </a:rPr>
              <a:t>Larger teams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B2D4F"/>
                </a:solidFill>
                <a:latin typeface="Calibri"/>
              </a:rPr>
              <a:t>⭐ Our pick: </a:t>
            </a:r>
            <a:r>
              <a:rPr sz="1600" b="1" i="0">
                <a:solidFill>
                  <a:srgbClr val="0A7E8C"/>
                </a:solidFill>
                <a:latin typeface="Calibri"/>
              </a:rPr>
              <a:t>AiSensy</a:t>
            </a:r>
            <a:r>
              <a:rPr sz="1600" b="1" i="0">
                <a:solidFill>
                  <a:srgbClr val="1B2D4F"/>
                </a:solidFill>
                <a:latin typeface="Calibri"/>
              </a:rPr>
              <a:t> — best balance of price, support and features for Cozmaa.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What it'll actually cost per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12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D3436"/>
                </a:solidFill>
                <a:latin typeface="Calibri"/>
              </a:rPr>
              <a:t>Platform fee (AiSensy plan)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87451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1B2D4F"/>
                </a:solidFill>
                <a:latin typeface="Calibri"/>
              </a:rPr>
              <a:t>₹1,500 /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D3436"/>
                </a:solidFill>
                <a:latin typeface="Calibri"/>
              </a:rPr>
              <a:t>Messages from customers to us (within 24 hrs)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423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10B981"/>
                </a:solidFill>
                <a:latin typeface="Calibri"/>
              </a:rPr>
              <a:t>FREE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D3436"/>
                </a:solidFill>
                <a:latin typeface="Calibri"/>
              </a:rPr>
              <a:t>Our replies to customers (within 24 hrs)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10B981"/>
                </a:solidFill>
                <a:latin typeface="Calibri"/>
              </a:rPr>
              <a:t>FREE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39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520439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D3436"/>
                </a:solidFill>
                <a:latin typeface="Calibri"/>
              </a:rPr>
              <a:t>Promotional messages we send (optional)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52043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1B2D4F"/>
                </a:solidFill>
                <a:latin typeface="Calibri"/>
              </a:rPr>
              <a:t>₹0.86 / msg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79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4069079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D3436"/>
                </a:solidFill>
                <a:latin typeface="Calibri"/>
              </a:rPr>
              <a:t>Appointment reminders we send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06907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i="0">
                <a:solidFill>
                  <a:srgbClr val="1B2D4F"/>
                </a:solidFill>
                <a:latin typeface="Calibri"/>
              </a:rPr>
              <a:t>₹0.12 / msg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7760"/>
            <a:ext cx="11091672" cy="1097280"/>
          </a:xfrm>
          <a:prstGeom prst="roundRect">
            <a:avLst>
              <a:gd name="adj" fmla="val 8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BOTTOM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₹1,500 – ₹2,500 / month for normal clinic usage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Less than the cost of one new patient per month.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A REAL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How a real conversation will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13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" y="182880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Oval 6"/>
          <p:cNvSpPr/>
          <p:nvPr/>
        </p:nvSpPr>
        <p:spPr>
          <a:xfrm>
            <a:off x="562356" y="2011680"/>
            <a:ext cx="502920" cy="502920"/>
          </a:xfrm>
          <a:prstGeom prst="ellipse">
            <a:avLst/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2356" y="2011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" y="2057400"/>
            <a:ext cx="11887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D4F"/>
                </a:solidFill>
                <a:latin typeface="Calibri"/>
              </a:rPr>
              <a:t>Priya opens cozmaa.com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" y="26974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2D3436"/>
                </a:solidFill>
                <a:latin typeface="Calibri"/>
              </a:rP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" y="3611880"/>
            <a:ext cx="182879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On her laptop at home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1196" y="182880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3" name="Oval 12"/>
          <p:cNvSpPr/>
          <p:nvPr/>
        </p:nvSpPr>
        <p:spPr>
          <a:xfrm>
            <a:off x="2894076" y="2011680"/>
            <a:ext cx="502920" cy="502920"/>
          </a:xfrm>
          <a:prstGeom prst="ellipse">
            <a:avLst/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94076" y="2011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8436" y="2057400"/>
            <a:ext cx="11887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D4F"/>
                </a:solidFill>
                <a:latin typeface="Calibri"/>
              </a:rPr>
              <a:t>Clicks chat 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1196" y="26974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2D3436"/>
                </a:solidFill>
                <a:latin typeface="Calibri"/>
              </a:rPr>
              <a:t>👆💬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8356" y="3611880"/>
            <a:ext cx="182879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Bottom-right corner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2916" y="182880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9" name="Oval 18"/>
          <p:cNvSpPr/>
          <p:nvPr/>
        </p:nvSpPr>
        <p:spPr>
          <a:xfrm>
            <a:off x="5225796" y="2011680"/>
            <a:ext cx="502920" cy="502920"/>
          </a:xfrm>
          <a:prstGeom prst="ellipse">
            <a:avLst/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25796" y="2011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0155" y="2057400"/>
            <a:ext cx="11887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D4F"/>
                </a:solidFill>
                <a:latin typeface="Calibri"/>
              </a:rPr>
              <a:t>Types her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2916" y="26974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2D3436"/>
                </a:solidFill>
                <a:latin typeface="Calibri"/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0076" y="3611880"/>
            <a:ext cx="182879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"Hi, hair transplant info?"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4636" y="182880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5" name="Oval 24"/>
          <p:cNvSpPr/>
          <p:nvPr/>
        </p:nvSpPr>
        <p:spPr>
          <a:xfrm>
            <a:off x="7557515" y="2011680"/>
            <a:ext cx="502920" cy="502920"/>
          </a:xfrm>
          <a:prstGeom prst="ellipse">
            <a:avLst/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7515" y="2011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1875" y="2057400"/>
            <a:ext cx="11887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D4F"/>
                </a:solidFill>
                <a:latin typeface="Calibri"/>
              </a:rPr>
              <a:t>We get a notification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4636" y="26974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2D3436"/>
                </a:solidFill>
                <a:latin typeface="Calibri"/>
              </a:rPr>
              <a:t>📱🔔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1796" y="3611880"/>
            <a:ext cx="182879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On the new business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06355" y="182880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1" name="Oval 30"/>
          <p:cNvSpPr/>
          <p:nvPr/>
        </p:nvSpPr>
        <p:spPr>
          <a:xfrm>
            <a:off x="9889235" y="2011680"/>
            <a:ext cx="502920" cy="502920"/>
          </a:xfrm>
          <a:prstGeom prst="ellipse">
            <a:avLst/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889235" y="2011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83595" y="2057400"/>
            <a:ext cx="11887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2D4F"/>
                </a:solidFill>
                <a:latin typeface="Calibri"/>
              </a:rPr>
              <a:t>We reply — instantly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6355" y="26974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2D3436"/>
                </a:solidFill>
                <a:latin typeface="Calibri"/>
              </a:rPr>
              <a:t>↩️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3515" y="3611880"/>
            <a:ext cx="182879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"Hello Priya! Yes, packages…"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4572000"/>
            <a:ext cx="2194560" cy="1554480"/>
          </a:xfrm>
          <a:prstGeom prst="roundRect">
            <a:avLst>
              <a:gd name="adj" fmla="val 13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5120640" y="466344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66360" y="4663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Priya — Patient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5029200"/>
            <a:ext cx="2011680" cy="1005840"/>
          </a:xfrm>
          <a:prstGeom prst="roundRect">
            <a:avLst>
              <a:gd name="adj" fmla="val 0"/>
            </a:avLst>
          </a:prstGeom>
          <a:solidFill>
            <a:srgbClr val="ECE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212080" y="512064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257800" y="51206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D3436"/>
                </a:solidFill>
                <a:latin typeface="Calibri"/>
              </a:rPr>
              <a:t>Hair transplant info?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0" y="553212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DCF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715000" y="55321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D3436"/>
                </a:solidFill>
                <a:latin typeface="Calibri"/>
              </a:rPr>
              <a:t>Hello Priya! Sure 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Just like WhatsApp — but the customer never leaves our website.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WHAT'S IN IT FOR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Benefits — for Cozmaa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14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" y="192024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72084" y="219456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2084" y="21945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D3436"/>
                </a:solidFill>
                <a:latin typeface="Calibr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3644" y="2103120"/>
            <a:ext cx="2286000" cy="118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Capture desktop visitors who currently drop 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5676" y="192024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448556" y="219456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48556" y="21945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D3436"/>
                </a:solidFill>
                <a:latin typeface="Calibri"/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0116" y="2103120"/>
            <a:ext cx="2286000" cy="118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One inbox for all customer chats — no missed messages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2148" y="192024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225027" y="219456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5027" y="21945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D3436"/>
                </a:solidFill>
                <a:latin typeface="Calibri"/>
              </a:rPr>
              <a:t>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6588" y="2103120"/>
            <a:ext cx="2286000" cy="118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Customer's name and phone number captured automatically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" y="370332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72084" y="3977639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2084" y="3977639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D3436"/>
                </a:solidFill>
                <a:latin typeface="Calibri"/>
              </a:rPr>
              <a:t>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3644" y="3886200"/>
            <a:ext cx="2286000" cy="118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Reply from anywhere — phone, laptop, tablet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5676" y="370332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448556" y="3977639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48556" y="3977639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D3436"/>
                </a:solidFill>
                <a:latin typeface="Calibri"/>
              </a:rP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0116" y="3886200"/>
            <a:ext cx="2286000" cy="118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Multiple staff can reply (receptionist + doctor + manager)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2148" y="3703320"/>
            <a:ext cx="36576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225027" y="3977639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E6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5027" y="3977639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2D3436"/>
                </a:solidFill>
                <a:latin typeface="Calibr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6588" y="3886200"/>
            <a:ext cx="2286000" cy="118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D4F"/>
                </a:solidFill>
                <a:latin typeface="Calibri"/>
              </a:rPr>
              <a:t>Chat history of every patient — useful for follow-ups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What's the setup process?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15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" y="246888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82396" y="26974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2396" y="26974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" y="32461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2D4F"/>
                </a:solidFill>
                <a:latin typeface="Calibri"/>
              </a:rPr>
              <a:t>Sign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" y="388620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Register on AiSensy and decide on the phone number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46604" y="3520440"/>
            <a:ext cx="237744" cy="27432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02636" y="246888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168396" y="26974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168396" y="26974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9796" y="32461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2D4F"/>
                </a:solidFill>
                <a:latin typeface="Calibri"/>
              </a:rPr>
              <a:t>Verify 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5516" y="388620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Facebook Business Manager paperwork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32604" y="3520440"/>
            <a:ext cx="237744" cy="27432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8636" y="246888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454396" y="26974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54396" y="26974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5796" y="32461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2D4F"/>
                </a:solidFill>
                <a:latin typeface="Calibri"/>
              </a:rPr>
              <a:t>Get number approved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1516" y="388620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WhatsApp Business number approved by Meta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18604" y="3520440"/>
            <a:ext cx="237744" cy="27432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74636" y="246888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740396" y="26974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40396" y="26974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DAY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1796" y="32461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2D4F"/>
                </a:solidFill>
                <a:latin typeface="Calibri"/>
              </a:rPr>
              <a:t>Install widget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7516" y="388620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Add chat widget on cozmaa.com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04604" y="3520440"/>
            <a:ext cx="237744" cy="27432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60636" y="246888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0026396" y="26974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026396" y="26974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DAY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7796" y="324612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2D4F"/>
                </a:solidFill>
                <a:latin typeface="Calibri"/>
              </a:rPr>
              <a:t>Train + Go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3516" y="388620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Train staff on the new app and switch 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B2D4F"/>
                </a:solidFill>
                <a:latin typeface="Calibri"/>
              </a:rPr>
              <a:t>Roughly </a:t>
            </a:r>
            <a:r>
              <a:rPr sz="1800" b="1" i="0">
                <a:solidFill>
                  <a:srgbClr val="0A7E8C"/>
                </a:solidFill>
                <a:latin typeface="Calibri"/>
              </a:rPr>
              <a:t>5–7 working days</a:t>
            </a:r>
            <a:r>
              <a:rPr sz="1800" b="1" i="0">
                <a:solidFill>
                  <a:srgbClr val="1B2D4F"/>
                </a:solidFill>
                <a:latin typeface="Calibri"/>
              </a:rPr>
              <a:t> from start to live.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HONEST HEADS-UP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Things to keep in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16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9167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2D3436"/>
                </a:solidFill>
                <a:latin typeface="Calibri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D3436"/>
                </a:solidFill>
                <a:latin typeface="Calibri"/>
              </a:rPr>
              <a:t>The new business app is separate — needs a small mindset shift in the first week.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109167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2D3436"/>
                </a:solidFill>
                <a:latin typeface="Calibri"/>
              </a:rPr>
              <a:t>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1460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D3436"/>
                </a:solidFill>
                <a:latin typeface="Calibri"/>
              </a:rPr>
              <a:t>For sending promotional messages, Meta needs to approve the message templates first (1–2 days).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1109167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2D3436"/>
                </a:solidFill>
                <a:latin typeface="Calibri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0040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D3436"/>
                </a:solidFill>
                <a:latin typeface="Calibri"/>
              </a:rPr>
              <a:t>If we want to send marketing offers, those cost ~₹0.86 per message.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1109167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2D3436"/>
                </a:solidFill>
                <a:latin typeface="Calibri"/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8620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D3436"/>
                </a:solidFill>
                <a:latin typeface="Calibri"/>
              </a:rPr>
              <a:t>We need to reply within 24 hours — otherwise sending free messages costs extra.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09167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2D3436"/>
                </a:solidFill>
                <a:latin typeface="Calibri"/>
              </a:rP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7200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D3436"/>
                </a:solidFill>
                <a:latin typeface="Calibri"/>
              </a:rPr>
              <a:t>Internet must be working for the app to receive messages (just like normal WhatsApp).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None of these are deal-breakers — but you should know them upfront.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My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17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2103120"/>
          </a:xfrm>
          <a:prstGeom prst="roundRect">
            <a:avLst>
              <a:gd name="adj" fmla="val 6000"/>
            </a:avLst>
          </a:prstGeom>
          <a:solidFill>
            <a:srgbClr val="1B2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64592" cy="2103120"/>
          </a:xfrm>
          <a:prstGeom prst="rect">
            <a:avLst/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BD5E1"/>
                </a:solidFill>
                <a:latin typeface="Calibri"/>
              </a:rPr>
              <a:t>GO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CA3AF"/>
                </a:solidFill>
                <a:latin typeface="Calibri"/>
              </a:rPr>
              <a:t>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AiSensy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₹1,500/month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317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CA3AF"/>
                </a:solidFill>
                <a:latin typeface="Calibri"/>
              </a:rPr>
              <a:t>PHONE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060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New dedicated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004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Just for Cozmaa 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3317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CA3AF"/>
                </a:solidFill>
                <a:latin typeface="Calibri"/>
              </a:rPr>
              <a:t>START WITH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6060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14-day free trial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2004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Test before paying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D4F"/>
                </a:solidFill>
                <a:latin typeface="Calibri"/>
              </a:rPr>
              <a:t>WHY THIS COMBINATION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✅  </a:t>
            </a:r>
            <a:r>
              <a:rPr sz="1600" b="0" i="0">
                <a:solidFill>
                  <a:srgbClr val="2D3436"/>
                </a:solidFill>
                <a:latin typeface="Calibri"/>
              </a:rPr>
              <a:t>Best price-to-feature ratio for a clinic our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6635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✅  </a:t>
            </a:r>
            <a:r>
              <a:rPr sz="1600" b="0" i="0">
                <a:solidFill>
                  <a:srgbClr val="2D3436"/>
                </a:solidFill>
                <a:latin typeface="Calibri"/>
              </a:rPr>
              <a:t>Free Green Tick verification — looks professional to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7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✅  </a:t>
            </a:r>
            <a:r>
              <a:rPr sz="1600" b="0" i="0">
                <a:solidFill>
                  <a:srgbClr val="2D3436"/>
                </a:solidFill>
                <a:latin typeface="Calibri"/>
              </a:rPr>
              <a:t>Indian company with Indian customer support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7E8C"/>
                </a:solidFill>
                <a:latin typeface="Calibri"/>
              </a:rPr>
              <a:t>DECISION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B2D4F"/>
                </a:solidFill>
                <a:latin typeface="Calibri"/>
              </a:rPr>
              <a:t>What we need from you to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18 / 18  ·  Cozmaa WhatsApp Chat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91672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D3436"/>
                </a:solidFill>
                <a:latin typeface="Calibri"/>
              </a:rPr>
              <a:t>Approval on the AiSensy plan (₹1,500/month)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11091672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2468880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88720" y="2377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D3436"/>
                </a:solidFill>
                <a:latin typeface="Calibri"/>
              </a:rPr>
              <a:t>Decision: New number or migrate existing one?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11091672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77240" y="3017520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D3436"/>
                </a:solidFill>
                <a:latin typeface="Calibri"/>
              </a:rPr>
              <a:t>Cozmaa logo + brand colours (already on the website)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11091672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77240" y="3566160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88720" y="3474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D3436"/>
                </a:solidFill>
                <a:latin typeface="Calibri"/>
              </a:rPr>
              <a:t>Sample replies for common patient questions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1091672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77240" y="4114800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8872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D3436"/>
                </a:solidFill>
                <a:latin typeface="Calibri"/>
              </a:rPr>
              <a:t>List of staff members who'll handle chats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A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Once approved — we go live in under a week. 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B7280"/>
                </a:solidFill>
                <a:latin typeface="Calibri"/>
              </a:rPr>
              <a:t>Questions?  </a:t>
            </a:r>
            <a:r>
              <a:rPr sz="1400" b="1" i="0">
                <a:solidFill>
                  <a:srgbClr val="1B2D4F"/>
                </a:solidFill>
                <a:latin typeface="Calibri"/>
              </a:rPr>
              <a:t>Aakash Tawde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  ·  📞 [your number]  ·  ✉️ [your 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